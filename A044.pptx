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6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DB8D96A-1379-41E1-8647-0C721CC3589E}">
  <a:tblStyle styleId="{ADB8D96A-1379-41E1-8647-0C721CC358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14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51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51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07:29:52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B64E7-6E21-427A-B575-E68840F3BA8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AC3A9-56C1-4A2C-AC1E-5DB2BF84F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25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22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170A-9D38-42A4-A87C-A1C192A6A8A4}" type="datetimeFigureOut">
              <a:rPr lang="en-IN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66F05-BBB2-4444-A178-B18AB8E080A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01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596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500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55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77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599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300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6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1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429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944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1848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48F170A-9D38-42A4-A87C-A1C192A6A8A4}" type="datetimeFigureOut">
              <a:rPr lang="en-IN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66F05-BBB2-4444-A178-B18AB8E080A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44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F170A-9D38-42A4-A87C-A1C192A6A8A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66F05-BBB2-4444-A178-B18AB8E08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03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91e2ca64d5c7462f" Type="http://schemas.openxmlformats.org/officeDocument/2006/relationships/image" Target="../media/image55.png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8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19.png"/><Relationship Id="rId9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4D38-771D-9700-DB89-CB9C27726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9124" y="140051"/>
            <a:ext cx="8637073" cy="2541431"/>
          </a:xfrm>
          <a:noFill/>
          <a:scene3d>
            <a:camera prst="orthographicFront"/>
            <a:lightRig rig="threePt" dir="t"/>
          </a:scene3d>
          <a:sp3d>
            <a:bevelB w="152400" h="50800" prst="softRound"/>
          </a:sp3d>
        </p:spPr>
        <p:txBody>
          <a:bodyPr>
            <a:normAutofit/>
          </a:bodyPr>
          <a:lstStyle/>
          <a:p>
            <a:r>
              <a:rPr lang="en-IN" sz="4000" dirty="0"/>
              <a:t>          Introduction  to</a:t>
            </a:r>
            <a:br>
              <a:rPr lang="en-IN" sz="4000" dirty="0"/>
            </a:br>
            <a:r>
              <a:rPr lang="en-IN" sz="4000" dirty="0"/>
              <a:t> PIVOT TABLE  AND  PIVOIT CHART</a:t>
            </a:r>
          </a:p>
        </p:txBody>
      </p:sp>
    </p:spTree>
    <p:extLst>
      <p:ext uri="{BB962C8B-B14F-4D97-AF65-F5344CB8AC3E}">
        <p14:creationId xmlns:p14="http://schemas.microsoft.com/office/powerpoint/2010/main" val="413891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32F5-DE7E-67A9-9A89-2FCF039C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pivot table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C3012-776D-3056-71BC-ADDCC9A4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Pivot Table is data summarization  tool in excel used to :</a:t>
            </a:r>
          </a:p>
          <a:p>
            <a:r>
              <a:rPr lang="en-IN" dirty="0"/>
              <a:t>   Summarize large datasets.</a:t>
            </a:r>
          </a:p>
          <a:p>
            <a:r>
              <a:rPr lang="en-IN" dirty="0"/>
              <a:t>    </a:t>
            </a:r>
            <a:r>
              <a:rPr lang="en-IN" dirty="0" err="1"/>
              <a:t>Analyze</a:t>
            </a:r>
            <a:r>
              <a:rPr lang="en-IN" dirty="0"/>
              <a:t> patterns and trends.</a:t>
            </a:r>
          </a:p>
          <a:p>
            <a:r>
              <a:rPr lang="en-IN" dirty="0"/>
              <a:t>    Rearrange (pivot) data dynamically.</a:t>
            </a:r>
          </a:p>
        </p:txBody>
      </p:sp>
    </p:spTree>
    <p:extLst>
      <p:ext uri="{BB962C8B-B14F-4D97-AF65-F5344CB8AC3E}">
        <p14:creationId xmlns:p14="http://schemas.microsoft.com/office/powerpoint/2010/main" val="251705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3341-F01C-F916-8EBF-36C064B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a pivot table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2A23F-9DCC-AE5B-E0BC-29E32D7E2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use a Pivot Table because it helps to :</a:t>
            </a:r>
          </a:p>
          <a:p>
            <a:r>
              <a:rPr lang="en-IN" dirty="0"/>
              <a:t> Quick data summarization.</a:t>
            </a:r>
          </a:p>
          <a:p>
            <a:r>
              <a:rPr lang="en-IN" dirty="0"/>
              <a:t> Easy comparison of data.</a:t>
            </a:r>
          </a:p>
          <a:p>
            <a:r>
              <a:rPr lang="en-IN" dirty="0"/>
              <a:t> Saves time no formulas needed.</a:t>
            </a:r>
          </a:p>
          <a:p>
            <a:r>
              <a:rPr lang="en-IN" dirty="0"/>
              <a:t> Interactive and flexible.</a:t>
            </a:r>
          </a:p>
          <a:p>
            <a:r>
              <a:rPr lang="en-IN" dirty="0"/>
              <a:t> Great for reports and </a:t>
            </a:r>
            <a:r>
              <a:rPr lang="en-IN" dirty="0" err="1"/>
              <a:t>dashbords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91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204C-07A9-2ABD-777A-20C70065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9D5E-C37D-5AF9-CE61-7FCAD0A78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88" y="1934743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Steps to create a Pivot Table in excel:</a:t>
            </a:r>
          </a:p>
          <a:p>
            <a:r>
              <a:rPr lang="en-IN" dirty="0"/>
              <a:t>Select your dataset .</a:t>
            </a:r>
          </a:p>
          <a:p>
            <a:r>
              <a:rPr lang="en-IN" dirty="0"/>
              <a:t>Go to Insert</a:t>
            </a:r>
            <a:r>
              <a:rPr lang="en-IN" dirty="0">
                <a:sym typeface="Wingdings" panose="05000000000000000000" pitchFamily="2" charset="2"/>
              </a:rPr>
              <a:t> Pivot Table</a:t>
            </a:r>
          </a:p>
          <a:p>
            <a:r>
              <a:rPr lang="en-IN" dirty="0">
                <a:sym typeface="Wingdings" panose="05000000000000000000" pitchFamily="2" charset="2"/>
              </a:rPr>
              <a:t>Choose a data range</a:t>
            </a:r>
          </a:p>
          <a:p>
            <a:r>
              <a:rPr lang="en-IN" dirty="0">
                <a:sym typeface="Wingdings" panose="05000000000000000000" pitchFamily="2" charset="2"/>
              </a:rPr>
              <a:t>Drag fields to Rows ,Columns ,Values , and ,Filters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A3AC98-9471-61FE-4DEE-AFA959AE1CFE}"/>
                  </a:ext>
                </a:extLst>
              </p14:cNvPr>
              <p14:cNvContentPartPr/>
              <p14:nvPr/>
            </p14:nvContentPartPr>
            <p14:xfrm>
              <a:off x="7470933" y="35343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A3AC98-9471-61FE-4DEE-AFA959AE1CFE}"/>
                  </a:ext>
                </a:extLst>
              </p:cNvPr>
              <p:cNvPicPr/>
              <p:nvPr/>
            </p:nvPicPr>
            <p:blipFill>
              <a:blip r:embed="R91e2ca64d5c7462f"/>
              <a:stretch>
                <a:fillRect/>
              </a:stretch>
            </p:blipFill>
            <p:spPr>
              <a:xfrm>
                <a:off x="7462293" y="34443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2641245-037E-3765-804A-1086E1BC5768}"/>
              </a:ext>
            </a:extLst>
          </p:cNvPr>
          <p:cNvGrpSpPr/>
          <p:nvPr/>
        </p:nvGrpSpPr>
        <p:grpSpPr>
          <a:xfrm>
            <a:off x="4613253" y="3158918"/>
            <a:ext cx="360" cy="360"/>
            <a:chOff x="4613253" y="315891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804E0B-A946-F09B-8591-9B05E9A99E23}"/>
                    </a:ext>
                  </a:extLst>
                </p14:cNvPr>
                <p14:cNvContentPartPr/>
                <p14:nvPr/>
              </p14:nvContentPartPr>
              <p14:xfrm>
                <a:off x="4613253" y="3158918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804E0B-A946-F09B-8591-9B05E9A99E23}"/>
                    </a:ext>
                  </a:extLst>
                </p:cNvPr>
                <p:cNvPicPr/>
                <p:nvPr/>
              </p:nvPicPr>
              <p:blipFill>
                <a:blip r:embed="R91e2ca64d5c7462f"/>
                <a:stretch>
                  <a:fillRect/>
                </a:stretch>
              </p:blipFill>
              <p:spPr>
                <a:xfrm>
                  <a:off x="4604613" y="314991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67DB49-C1D4-A823-01DC-BE7DB673D8D0}"/>
                    </a:ext>
                  </a:extLst>
                </p14:cNvPr>
                <p14:cNvContentPartPr/>
                <p14:nvPr/>
              </p14:nvContentPartPr>
              <p14:xfrm>
                <a:off x="4613253" y="3158918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67DB49-C1D4-A823-01DC-BE7DB673D8D0}"/>
                    </a:ext>
                  </a:extLst>
                </p:cNvPr>
                <p:cNvPicPr/>
                <p:nvPr/>
              </p:nvPicPr>
              <p:blipFill>
                <a:blip r:embed="R91e2ca64d5c7462f"/>
                <a:stretch>
                  <a:fillRect/>
                </a:stretch>
              </p:blipFill>
              <p:spPr>
                <a:xfrm>
                  <a:off x="4604613" y="314991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E868370-7A5D-0F1D-DD57-0FAD40302C1B}"/>
                  </a:ext>
                </a:extLst>
              </p14:cNvPr>
              <p14:cNvContentPartPr/>
              <p14:nvPr/>
            </p14:nvContentPartPr>
            <p14:xfrm>
              <a:off x="3470613" y="267039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E868370-7A5D-0F1D-DD57-0FAD40302C1B}"/>
                  </a:ext>
                </a:extLst>
              </p:cNvPr>
              <p:cNvPicPr/>
              <p:nvPr/>
            </p:nvPicPr>
            <p:blipFill>
              <a:blip r:embed="R91e2ca64d5c7462f"/>
              <a:stretch>
                <a:fillRect/>
              </a:stretch>
            </p:blipFill>
            <p:spPr>
              <a:xfrm>
                <a:off x="3461613" y="266139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E3100A54-0BF5-FE5F-8C4D-AA4764F56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094" y="1853754"/>
            <a:ext cx="5063809" cy="755312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EF287074-48A4-459A-45EB-37269675A320}"/>
              </a:ext>
            </a:extLst>
          </p:cNvPr>
          <p:cNvSpPr/>
          <p:nvPr/>
        </p:nvSpPr>
        <p:spPr>
          <a:xfrm>
            <a:off x="6332220" y="1579434"/>
            <a:ext cx="144780" cy="27432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2E30B60-1BC5-2EEE-ED20-5A879F99473A}"/>
              </a:ext>
            </a:extLst>
          </p:cNvPr>
          <p:cNvSpPr/>
          <p:nvPr/>
        </p:nvSpPr>
        <p:spPr>
          <a:xfrm rot="10800000">
            <a:off x="6031230" y="2251134"/>
            <a:ext cx="129540" cy="30459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5B83822-D9D8-524A-44E2-F5D00C1B2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770" y="4196789"/>
            <a:ext cx="4893364" cy="2377133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25A7D99D-8506-E86F-A192-DB7CF7896CFC}"/>
              </a:ext>
            </a:extLst>
          </p:cNvPr>
          <p:cNvSpPr/>
          <p:nvPr/>
        </p:nvSpPr>
        <p:spPr>
          <a:xfrm>
            <a:off x="8854440" y="3158918"/>
            <a:ext cx="137160" cy="795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01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0FA6-D3B3-3E13-25F3-831EF982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Customizing a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FCA7-7036-B1C6-4036-C5E3A525F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Pivot Table field list: this dialogue box appears </a:t>
            </a:r>
          </a:p>
          <a:p>
            <a:pPr marL="0" indent="0">
              <a:buNone/>
            </a:pPr>
            <a:r>
              <a:rPr lang="en-IN" dirty="0"/>
              <a:t>    after a pivot table has been created.</a:t>
            </a:r>
          </a:p>
          <a:p>
            <a:r>
              <a:rPr lang="en-IN" dirty="0"/>
              <a:t>Any time this is open, you are able</a:t>
            </a:r>
          </a:p>
          <a:p>
            <a:pPr marL="0" indent="0">
              <a:buNone/>
            </a:pPr>
            <a:r>
              <a:rPr lang="en-IN" dirty="0"/>
              <a:t>   to edit a Pivot Table.</a:t>
            </a:r>
          </a:p>
          <a:p>
            <a:r>
              <a:rPr lang="en-IN" dirty="0"/>
              <a:t>It is used to add and remove items from the </a:t>
            </a:r>
          </a:p>
          <a:p>
            <a:pPr marL="0" indent="0">
              <a:buNone/>
            </a:pPr>
            <a:r>
              <a:rPr lang="en-IN" dirty="0"/>
              <a:t>   Pivot Table and contains </a:t>
            </a:r>
            <a:r>
              <a:rPr lang="en-IN" dirty="0" err="1"/>
              <a:t>afields</a:t>
            </a:r>
            <a:r>
              <a:rPr lang="en-IN" dirty="0"/>
              <a:t> for each of the </a:t>
            </a:r>
          </a:p>
          <a:p>
            <a:pPr marL="0" indent="0">
              <a:buNone/>
            </a:pPr>
            <a:r>
              <a:rPr lang="en-IN" dirty="0"/>
              <a:t>   columns in your list.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107E0-7E77-775B-5CA5-16325F091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959" y="2052918"/>
            <a:ext cx="2793295" cy="396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4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FF96-D2BC-5AF9-1E99-835A0734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759" y="111099"/>
            <a:ext cx="9603275" cy="1049235"/>
          </a:xfrm>
        </p:spPr>
        <p:txBody>
          <a:bodyPr/>
          <a:lstStyle/>
          <a:p>
            <a:r>
              <a:rPr lang="en-IN" dirty="0"/>
              <a:t>Customizing a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15843-1DF1-24AB-A801-BE9D572A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Layout: edits the layout and display of the Pivot Table</a:t>
            </a:r>
          </a:p>
          <a:p>
            <a:r>
              <a:rPr lang="en-IN" dirty="0"/>
              <a:t>Pivot Table Style: provide a list of present style to</a:t>
            </a:r>
          </a:p>
          <a:p>
            <a:pPr marL="0" indent="0">
              <a:buNone/>
            </a:pPr>
            <a:r>
              <a:rPr lang="en-IN" dirty="0"/>
              <a:t>   choose from.</a:t>
            </a:r>
          </a:p>
          <a:p>
            <a:r>
              <a:rPr lang="en-IN" dirty="0"/>
              <a:t>Pivot Table Style option: adds </a:t>
            </a:r>
            <a:r>
              <a:rPr lang="en-IN" dirty="0" err="1"/>
              <a:t>colunma</a:t>
            </a:r>
            <a:r>
              <a:rPr lang="en-IN" dirty="0"/>
              <a:t>/rows headers</a:t>
            </a:r>
          </a:p>
          <a:p>
            <a:pPr marL="0" indent="0">
              <a:buNone/>
            </a:pPr>
            <a:r>
              <a:rPr lang="en-IN" dirty="0"/>
              <a:t>    And bands </a:t>
            </a:r>
            <a:r>
              <a:rPr lang="en-IN" dirty="0" err="1"/>
              <a:t>colunma</a:t>
            </a:r>
            <a:r>
              <a:rPr lang="en-IN" dirty="0"/>
              <a:t>/rows.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06359-D2F5-D6C9-3D3E-B6FA0DB40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43" y="827297"/>
            <a:ext cx="7516439" cy="9710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174F0F-0A27-9D27-96CC-84E16042F1EA}"/>
              </a:ext>
            </a:extLst>
          </p:cNvPr>
          <p:cNvCxnSpPr>
            <a:cxnSpLocks/>
          </p:cNvCxnSpPr>
          <p:nvPr/>
        </p:nvCxnSpPr>
        <p:spPr>
          <a:xfrm>
            <a:off x="1451579" y="1028700"/>
            <a:ext cx="76002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1E2DDA-DAA6-00D4-8C99-CABEA3C066E0}"/>
              </a:ext>
            </a:extLst>
          </p:cNvPr>
          <p:cNvCxnSpPr/>
          <p:nvPr/>
        </p:nvCxnSpPr>
        <p:spPr>
          <a:xfrm>
            <a:off x="1451579" y="1028700"/>
            <a:ext cx="0" cy="769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0D249A-1B03-E963-A55B-4D5B247153C0}"/>
              </a:ext>
            </a:extLst>
          </p:cNvPr>
          <p:cNvCxnSpPr>
            <a:cxnSpLocks/>
          </p:cNvCxnSpPr>
          <p:nvPr/>
        </p:nvCxnSpPr>
        <p:spPr>
          <a:xfrm flipV="1">
            <a:off x="1451579" y="1780317"/>
            <a:ext cx="7558348" cy="180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779793-9F38-D38D-FD88-C6397F909348}"/>
              </a:ext>
            </a:extLst>
          </p:cNvPr>
          <p:cNvCxnSpPr>
            <a:cxnSpLocks/>
          </p:cNvCxnSpPr>
          <p:nvPr/>
        </p:nvCxnSpPr>
        <p:spPr>
          <a:xfrm flipH="1">
            <a:off x="9009927" y="1028700"/>
            <a:ext cx="41911" cy="751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29ACB8-B758-7369-155B-95F520495AB6}"/>
              </a:ext>
            </a:extLst>
          </p:cNvPr>
          <p:cNvCxnSpPr/>
          <p:nvPr/>
        </p:nvCxnSpPr>
        <p:spPr>
          <a:xfrm>
            <a:off x="3185160" y="1028700"/>
            <a:ext cx="0" cy="7606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66D6D7-F2BE-E15A-2BD6-1683FA771865}"/>
              </a:ext>
            </a:extLst>
          </p:cNvPr>
          <p:cNvCxnSpPr/>
          <p:nvPr/>
        </p:nvCxnSpPr>
        <p:spPr>
          <a:xfrm>
            <a:off x="5067300" y="1028700"/>
            <a:ext cx="0" cy="751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D3439E9-46BE-1FA3-68B9-552CC5D68804}"/>
              </a:ext>
            </a:extLst>
          </p:cNvPr>
          <p:cNvSpPr/>
          <p:nvPr/>
        </p:nvSpPr>
        <p:spPr>
          <a:xfrm>
            <a:off x="8343900" y="373954"/>
            <a:ext cx="198120" cy="35731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0871E7-0849-A550-4AD5-F5B807F12738}"/>
              </a:ext>
            </a:extLst>
          </p:cNvPr>
          <p:cNvCxnSpPr/>
          <p:nvPr/>
        </p:nvCxnSpPr>
        <p:spPr>
          <a:xfrm flipV="1">
            <a:off x="2362200" y="1780317"/>
            <a:ext cx="0" cy="235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EA3EEB6-0F96-7639-3861-532F1FC275D3}"/>
              </a:ext>
            </a:extLst>
          </p:cNvPr>
          <p:cNvCxnSpPr/>
          <p:nvPr/>
        </p:nvCxnSpPr>
        <p:spPr>
          <a:xfrm flipV="1">
            <a:off x="4084320" y="1798320"/>
            <a:ext cx="0" cy="358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3090A28-0217-ADDB-36A3-F90FF1D85C4F}"/>
              </a:ext>
            </a:extLst>
          </p:cNvPr>
          <p:cNvCxnSpPr/>
          <p:nvPr/>
        </p:nvCxnSpPr>
        <p:spPr>
          <a:xfrm flipV="1">
            <a:off x="7170420" y="1780317"/>
            <a:ext cx="0" cy="2354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61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DAE3-CAA6-B337-453E-9F3067EB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</a:t>
            </a:r>
            <a:r>
              <a:rPr lang="en-IN" dirty="0" err="1"/>
              <a:t>calculatuion</a:t>
            </a:r>
            <a:endParaRPr lang="en-IN" dirty="0"/>
          </a:p>
        </p:txBody>
      </p:sp>
      <p:pic>
        <p:nvPicPr>
          <p:cNvPr id="51" name="Content Placeholder 50">
            <a:extLst>
              <a:ext uri="{FF2B5EF4-FFF2-40B4-BE49-F238E27FC236}">
                <a16:creationId xmlns:a16="http://schemas.microsoft.com/office/drawing/2014/main" id="{92C32A0A-93EB-42AB-075D-1715B6814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22" y="2052638"/>
            <a:ext cx="7459132" cy="4195762"/>
          </a:xfrm>
        </p:spPr>
      </p:pic>
    </p:spTree>
    <p:extLst>
      <p:ext uri="{BB962C8B-B14F-4D97-AF65-F5344CB8AC3E}">
        <p14:creationId xmlns:p14="http://schemas.microsoft.com/office/powerpoint/2010/main" val="275246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08D0-675D-03A9-BDC7-5CCCAD25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7140"/>
            <a:ext cx="9603275" cy="1049235"/>
          </a:xfrm>
        </p:spPr>
        <p:txBody>
          <a:bodyPr/>
          <a:lstStyle/>
          <a:p>
            <a:r>
              <a:rPr lang="en-IN" dirty="0"/>
              <a:t>Min calculation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85222C3D-9020-AFAD-9144-EE2B3BAF2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2199736"/>
            <a:ext cx="5138529" cy="289042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45979D-E920-AEFC-E030-68C7F810BF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600" y="2199737"/>
            <a:ext cx="5138531" cy="289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8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FBF1-2826-8DC9-C116-24A8E263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 calculation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151F6-1CE6-D4A1-1925-1F798BA05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22" y="2052638"/>
            <a:ext cx="7459132" cy="4195762"/>
          </a:xfrm>
        </p:spPr>
      </p:pic>
    </p:spTree>
    <p:extLst>
      <p:ext uri="{BB962C8B-B14F-4D97-AF65-F5344CB8AC3E}">
        <p14:creationId xmlns:p14="http://schemas.microsoft.com/office/powerpoint/2010/main" val="178056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B975-6139-5FAB-1D31-97BF9F81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pivot chart?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90D2-300B-421B-7FAB-59B799930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 </a:t>
            </a:r>
            <a:r>
              <a:rPr lang="en-US" b="1" dirty="0"/>
              <a:t>PivotChart</a:t>
            </a:r>
            <a:r>
              <a:rPr lang="en-US" dirty="0"/>
              <a:t> is a </a:t>
            </a:r>
            <a:r>
              <a:rPr lang="en-US" b="1" dirty="0"/>
              <a:t>visual representation of a PivotTable</a:t>
            </a:r>
            <a:r>
              <a:rPr lang="en-US" dirty="0"/>
              <a:t> in Excel (or similar tools like Power BI, Google Sheets, or Pandas).</a:t>
            </a:r>
          </a:p>
          <a:p>
            <a:r>
              <a:rPr lang="en-US" dirty="0"/>
              <a:t>It’s a </a:t>
            </a:r>
            <a:r>
              <a:rPr lang="en-US" b="1" dirty="0"/>
              <a:t>dynamic chart</a:t>
            </a:r>
            <a:r>
              <a:rPr lang="en-US" dirty="0"/>
              <a:t> that automatically updates when you </a:t>
            </a:r>
            <a:r>
              <a:rPr lang="en-US" b="1" dirty="0"/>
              <a:t>filter, group, or rearrange</a:t>
            </a:r>
            <a:r>
              <a:rPr lang="en-US" dirty="0"/>
              <a:t> data in the PivotTable — helping you quickly visualize </a:t>
            </a:r>
            <a:r>
              <a:rPr lang="en-US" b="1" dirty="0"/>
              <a:t>trends, comparisons, and summaries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035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0F70-D52E-2B13-F4BD-B0F32D99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796899"/>
            <a:ext cx="9603275" cy="1049235"/>
          </a:xfrm>
        </p:spPr>
        <p:txBody>
          <a:bodyPr/>
          <a:lstStyle/>
          <a:p>
            <a:r>
              <a:rPr lang="en-IN" dirty="0"/>
              <a:t>Creating pivot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01B3-0014-01A9-5013-F88558A9B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900" b="1" dirty="0"/>
              <a:t>Steps to </a:t>
            </a:r>
            <a:r>
              <a:rPr lang="en-IN" sz="2600" b="1" dirty="0"/>
              <a:t>Create a Pivot Chart :</a:t>
            </a:r>
          </a:p>
          <a:p>
            <a:r>
              <a:rPr lang="en-IN" b="1" dirty="0"/>
              <a:t>Select your dataset</a:t>
            </a:r>
            <a:r>
              <a:rPr lang="en-IN" dirty="0"/>
              <a:t> → (A1:I41)</a:t>
            </a:r>
          </a:p>
          <a:p>
            <a:r>
              <a:rPr lang="en-IN" dirty="0"/>
              <a:t>Go to </a:t>
            </a:r>
            <a:r>
              <a:rPr lang="en-IN" b="1" dirty="0"/>
              <a:t>Insert → PivotTable</a:t>
            </a:r>
            <a:r>
              <a:rPr lang="en-IN" dirty="0"/>
              <a:t> → choose </a:t>
            </a:r>
            <a:r>
              <a:rPr lang="en-IN" i="1" dirty="0"/>
              <a:t>New Worksheet</a:t>
            </a:r>
            <a:r>
              <a:rPr lang="en-IN" dirty="0"/>
              <a:t> → </a:t>
            </a:r>
            <a:r>
              <a:rPr lang="en-IN" b="1" dirty="0"/>
              <a:t>OK</a:t>
            </a:r>
            <a:endParaRPr lang="en-IN" dirty="0"/>
          </a:p>
          <a:p>
            <a:r>
              <a:rPr lang="en-IN" dirty="0"/>
              <a:t>In PivotTable Fields:</a:t>
            </a:r>
          </a:p>
          <a:p>
            <a:pPr lvl="1"/>
            <a:r>
              <a:rPr lang="en-IN" dirty="0"/>
              <a:t>Rows → </a:t>
            </a:r>
            <a:r>
              <a:rPr lang="en-IN" b="1" dirty="0"/>
              <a:t>Region</a:t>
            </a:r>
            <a:endParaRPr lang="en-IN" dirty="0"/>
          </a:p>
          <a:p>
            <a:pPr lvl="1"/>
            <a:r>
              <a:rPr lang="en-IN" dirty="0"/>
              <a:t>Columns → </a:t>
            </a:r>
            <a:r>
              <a:rPr lang="en-IN" b="1" dirty="0"/>
              <a:t>Category</a:t>
            </a:r>
            <a:endParaRPr lang="en-IN" dirty="0"/>
          </a:p>
          <a:p>
            <a:pPr lvl="1"/>
            <a:r>
              <a:rPr lang="en-IN" dirty="0"/>
              <a:t>Values → </a:t>
            </a:r>
            <a:r>
              <a:rPr lang="en-IN" b="1" dirty="0"/>
              <a:t>Sum of Total Sales</a:t>
            </a:r>
            <a:endParaRPr lang="en-IN" dirty="0"/>
          </a:p>
          <a:p>
            <a:r>
              <a:rPr lang="en-IN" dirty="0"/>
              <a:t>Click inside PivotTable → </a:t>
            </a:r>
            <a:r>
              <a:rPr lang="en-IN" b="1" dirty="0"/>
              <a:t>Insert → PivotChart</a:t>
            </a:r>
            <a:endParaRPr lang="en-IN" dirty="0"/>
          </a:p>
          <a:p>
            <a:r>
              <a:rPr lang="en-IN" dirty="0"/>
              <a:t>Choose </a:t>
            </a:r>
            <a:r>
              <a:rPr lang="en-IN" b="1" dirty="0"/>
              <a:t>Column Chart</a:t>
            </a:r>
            <a:r>
              <a:rPr lang="en-IN" dirty="0"/>
              <a:t> → </a:t>
            </a:r>
            <a:r>
              <a:rPr lang="en-IN" b="1" dirty="0"/>
              <a:t>OK</a:t>
            </a:r>
            <a:endParaRPr lang="en-IN" dirty="0"/>
          </a:p>
          <a:p>
            <a:r>
              <a:rPr lang="en-IN" dirty="0"/>
              <a:t>Add chart title → </a:t>
            </a:r>
            <a:r>
              <a:rPr lang="en-IN" i="1" dirty="0"/>
              <a:t>“Regional Sales by Category”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1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8885-30CD-792E-0BC3-5F85F5F5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pivot chart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587716F-3C7B-A6D8-E98D-36F1651B6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79" y="1853754"/>
            <a:ext cx="9604375" cy="88938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361A74-5DC4-DF08-3802-946E42C7A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78" y="2659322"/>
            <a:ext cx="9604375" cy="3823335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3115C7E0-E7E3-1A28-E76F-BA64BEEE4792}"/>
              </a:ext>
            </a:extLst>
          </p:cNvPr>
          <p:cNvSpPr/>
          <p:nvPr/>
        </p:nvSpPr>
        <p:spPr>
          <a:xfrm>
            <a:off x="2133600" y="1548954"/>
            <a:ext cx="129540" cy="30480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71D75C8-7BF1-3346-FF51-2433CDA3EC82}"/>
              </a:ext>
            </a:extLst>
          </p:cNvPr>
          <p:cNvSpPr/>
          <p:nvPr/>
        </p:nvSpPr>
        <p:spPr>
          <a:xfrm rot="10800000">
            <a:off x="6306005" y="2427385"/>
            <a:ext cx="201475" cy="315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52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D261-2519-D0B2-B015-3317468F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268A1F-6DA9-F15D-BD0C-E20DA1EE4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331" y="1998534"/>
            <a:ext cx="5689662" cy="3449638"/>
          </a:xfrm>
        </p:spPr>
      </p:pic>
    </p:spTree>
    <p:extLst>
      <p:ext uri="{BB962C8B-B14F-4D97-AF65-F5344CB8AC3E}">
        <p14:creationId xmlns:p14="http://schemas.microsoft.com/office/powerpoint/2010/main" val="2873695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8CE2-DED0-1BC5-5534-C7E1435B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Customizing a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8294-E855-5A99-D44A-70124C98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Once a chart has been </a:t>
            </a:r>
            <a:r>
              <a:rPr lang="en-IN" dirty="0" err="1"/>
              <a:t>created,a</a:t>
            </a:r>
            <a:r>
              <a:rPr lang="en-IN" dirty="0"/>
              <a:t> chart tools group </a:t>
            </a:r>
            <a:r>
              <a:rPr lang="en-IN" dirty="0" err="1"/>
              <a:t>asppers</a:t>
            </a:r>
            <a:r>
              <a:rPr lang="en-IN" dirty="0"/>
              <a:t> on the user interface </a:t>
            </a:r>
            <a:r>
              <a:rPr lang="en-IN" dirty="0" err="1"/>
              <a:t>ribbort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Note: A chart must selected to use Chart Tools.</a:t>
            </a:r>
          </a:p>
          <a:p>
            <a:pPr marL="0" indent="0">
              <a:buNone/>
            </a:pPr>
            <a:r>
              <a:rPr lang="en-IN" dirty="0"/>
              <a:t>This group has three tabs that helps when customizing a chart: </a:t>
            </a:r>
            <a:r>
              <a:rPr lang="en-IN" dirty="0" err="1"/>
              <a:t>Design,Layout</a:t>
            </a:r>
            <a:r>
              <a:rPr lang="en-IN" dirty="0"/>
              <a:t> and </a:t>
            </a:r>
            <a:r>
              <a:rPr lang="en-IN" dirty="0" err="1"/>
              <a:t>Fromat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4C5CA-E8CE-CD6A-0871-2CFF30F80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4261234"/>
            <a:ext cx="9921240" cy="103387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E041B51-5C09-42A9-BCBE-4F2B14CE790B}"/>
              </a:ext>
            </a:extLst>
          </p:cNvPr>
          <p:cNvSpPr/>
          <p:nvPr/>
        </p:nvSpPr>
        <p:spPr>
          <a:xfrm>
            <a:off x="7357687" y="3681977"/>
            <a:ext cx="193040" cy="31961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25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05563" y="1895475"/>
            <a:ext cx="6981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What-If Analysis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lang="en-US" sz="6000" b="1" i="0" u="none" strike="noStrike" cap="none">
                <a:solidFill>
                  <a:srgbClr val="F39C12"/>
                </a:solidFill>
                <a:latin typeface="Poppins"/>
                <a:ea typeface="Poppins"/>
                <a:cs typeface="Poppins"/>
                <a:sym typeface="Poppins"/>
              </a:rPr>
              <a:t>Excel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71775" y="4371975"/>
            <a:ext cx="664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381625" y="2271712"/>
            <a:ext cx="1428750" cy="476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595437" y="2605087"/>
            <a:ext cx="9001125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F39C12"/>
                </a:solidFill>
                <a:latin typeface="Poppins"/>
                <a:ea typeface="Poppins"/>
                <a:cs typeface="Poppins"/>
                <a:sym typeface="Poppins"/>
              </a:rPr>
              <a:t>What is What-If Analysis?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809750" y="3729037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It’s a powerful way to test different options in your Excel model before you make a real-world business decision.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000250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Test Your Ideas Safely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647950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What-If Analysis lets you explore multiple futures. You simply change one or more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input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values to see how the final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result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of your calculations changes.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3800475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Instead of just guessing what will happen, you use data to plan for the best-case, worst-case, and most-likely scenarios.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495300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What if we sell 10% more? What if costs increase by 5%?</a:t>
            </a:r>
            <a:endParaRPr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48687" y="2643187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239000" y="4719637"/>
            <a:ext cx="3476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Visualizing multiple paths before committing.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8668196" y="4133850"/>
            <a:ext cx="469552" cy="95250"/>
          </a:xfrm>
          <a:prstGeom prst="roundRect">
            <a:avLst>
              <a:gd name="adj" fmla="val 16667"/>
            </a:avLst>
          </a:prstGeom>
          <a:solidFill>
            <a:srgbClr val="7F8C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98965" y="37861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014418" y="4357687"/>
            <a:ext cx="78834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9C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1848" y="37861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0003184" y="4357687"/>
            <a:ext cx="936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9C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 Case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81000"/>
            <a:ext cx="11601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Predicting Different Outcomes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3124200"/>
            <a:ext cx="1333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4019550"/>
            <a:ext cx="29908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914900"/>
            <a:ext cx="46958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1871662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Where to Find It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51936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The What-If Analysis tools are all located in one convenient place on the Excel ribbon.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43937" y="2091360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190625" y="3357562"/>
            <a:ext cx="4667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Step 1: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Click on the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Data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tab.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90625" y="3824287"/>
            <a:ext cx="4667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Step 2: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Look for the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Forecast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group.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90625" y="4291012"/>
            <a:ext cx="4667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Step 3: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Click the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"What-If Analysis"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button.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190625" y="4757737"/>
            <a:ext cx="46672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Step 4: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A dropdown menu will appear showing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Scenario Manager...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Goal Seek...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Data Table...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373380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462915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How to Use What-If Analysis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34242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38909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43576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482441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8875"/>
            <a:ext cx="3492549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28875"/>
            <a:ext cx="3492549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28875"/>
            <a:ext cx="3492549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94225" y="3438525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Scenario Manager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4124325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Testing and comparing several different full plans (groups of inputs) at the same time.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572524" y="3438525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Goal Seek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45074" y="4124325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Working backward to find the single input value you need to achieve a specific target result.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350824" y="3438525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Data Tables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23374" y="4124325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A quick way to see how one or two changing inputs affect all your results in one clean table.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0525" y="27432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The Three Main Tools We Use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4325" y="5205412"/>
            <a:ext cx="20859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643312"/>
            <a:ext cx="1423094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5369" y="3643312"/>
            <a:ext cx="1468189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06433" y="3643312"/>
            <a:ext cx="1518939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157412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What It Is (The Meaning)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28051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This tool is for comparing multiple different "what-if" situations at once.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6433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You save groups of different inputs as "Scenarios" (like a 'Best Case' plan or a 'Worst Case' plan).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481512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Excel then creates a single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summary report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comparing all your plans side-by-side so you can see the final profit for each.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48687" y="2024062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110537" y="3167062"/>
            <a:ext cx="173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Compare Full Plans</a:t>
            </a:r>
            <a:endParaRPr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67775" y="4824412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Tool 1: Scenario Manager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95575"/>
            <a:ext cx="857250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952625" y="1933575"/>
            <a:ext cx="842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You ask Excel to compare two scenarios: one with </a:t>
            </a:r>
            <a:r>
              <a:rPr lang="en-US" sz="1500" b="1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high sales (80%)</a:t>
            </a: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lang="en-US" sz="1500" b="1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low costs ($10)</a:t>
            </a: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, and one with </a:t>
            </a:r>
            <a:r>
              <a:rPr lang="en-US" sz="1500" b="1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low sales (50%)</a:t>
            </a: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lang="en-US" sz="1500" b="1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high costs ($15)</a:t>
            </a: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1809750" y="1933575"/>
            <a:ext cx="38100" cy="5715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895475" y="2981325"/>
            <a:ext cx="84010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Result: Scenario Summary Report</a:t>
            </a:r>
            <a:endParaRPr/>
          </a:p>
        </p:txBody>
      </p:sp>
      <p:graphicFrame>
        <p:nvGraphicFramePr>
          <p:cNvPr id="180" name="Google Shape;180;p19"/>
          <p:cNvGraphicFramePr/>
          <p:nvPr/>
        </p:nvGraphicFramePr>
        <p:xfrm>
          <a:off x="2095500" y="3609975"/>
          <a:ext cx="7991500" cy="2105000"/>
        </p:xfrm>
        <a:graphic>
          <a:graphicData uri="http://schemas.openxmlformats.org/drawingml/2006/table">
            <a:tbl>
              <a:tblPr firstRow="1" bandRow="1">
                <a:noFill/>
                <a:tableStyleId>{ADB8D96A-1379-41E1-8647-0C721CC3589E}</a:tableStyleId>
              </a:tblPr>
              <a:tblGrid>
                <a:gridCol w="29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Best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Worst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% Sold 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Cost per Unit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 Profit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$4,800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$1,750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1" name="Google Shape;181;p19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Scenario Manager: Example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9075" y="3238500"/>
            <a:ext cx="22764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0950" y="4991100"/>
            <a:ext cx="27527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2471737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What It Is (The Meaning)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311943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This tool works backward to find a specific number.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36433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You know the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result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you want to get (your 'goal'), but you don't know the input needed to get it.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44815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You ask Excel to find the single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input value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you need to change to achieve that exact goal.</a:t>
            </a:r>
            <a:endParaRPr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6312" y="22383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67775" y="384810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991475" y="4229100"/>
            <a:ext cx="1971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Goal Seek Calculates...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67775" y="461010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Tool 2: Goal Seek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952625" y="1852612"/>
            <a:ext cx="842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Your question is: "We must make a total profit of </a:t>
            </a:r>
            <a:r>
              <a:rPr lang="en-US" sz="1500" b="1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$4,200</a:t>
            </a: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. How many high-price books do we need to sell to hit this exact number?"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809750" y="1852612"/>
            <a:ext cx="38100" cy="5715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2095500" y="2709862"/>
            <a:ext cx="87010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Goal Seek Setup: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2095500" y="4976812"/>
            <a:ext cx="87010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Result: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2428875" y="3338512"/>
            <a:ext cx="7953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Set cell (The Result):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$D$10 (Total Profit)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2428875" y="3805237"/>
            <a:ext cx="7953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To value (The Goal):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4200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2428875" y="4271962"/>
            <a:ext cx="7953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By changing cell (The Input):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$C$4 (% Sold High)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2428875" y="5605462"/>
            <a:ext cx="7953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Excel finds the answer: You must sell </a:t>
            </a: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90%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of books at the high price.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Goal Seek: Example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5500" y="34051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5500" y="3871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5500" y="4338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5500" y="567213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0" y="3238500"/>
            <a:ext cx="25241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96162" y="4991100"/>
            <a:ext cx="3162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71500" y="2157412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What It Is (The Meaning)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2805112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This is the fastest way to see how changing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one or two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variables affects a result. It's like a mini-experiment.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39576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You give Excel a list of different input values you want to test (like 10 different prices).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7958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Excel creates a simple table showing all the possible outcomes automatically.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6312" y="223837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67775" y="384810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7643812" y="42291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Data Table Runs Calculations...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67775" y="461010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Tool 3: Data Tables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143125"/>
            <a:ext cx="857250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1952625" y="1381125"/>
            <a:ext cx="842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7F8C8D"/>
                </a:solidFill>
                <a:latin typeface="Nunito"/>
                <a:ea typeface="Nunito"/>
                <a:cs typeface="Nunito"/>
                <a:sym typeface="Nunito"/>
              </a:rPr>
              <a:t>Your question is: "How does our *total profit* change if we vary just the **% Sold at High Price** from 60% to 100%?"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1809750" y="1381125"/>
            <a:ext cx="38100" cy="5715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1895475" y="2428875"/>
            <a:ext cx="84010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Result: One-Variable Data Table</a:t>
            </a:r>
            <a:endParaRPr/>
          </a:p>
        </p:txBody>
      </p:sp>
      <p:graphicFrame>
        <p:nvGraphicFramePr>
          <p:cNvPr id="241" name="Google Shape;241;p23"/>
          <p:cNvGraphicFramePr/>
          <p:nvPr/>
        </p:nvGraphicFramePr>
        <p:xfrm>
          <a:off x="3695700" y="30575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{ADB8D96A-1379-41E1-8647-0C721CC3589E}</a:tableStyleId>
              </a:tblPr>
              <a:tblGrid>
                <a:gridCol w="248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% Sold 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 Profit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$3,800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$4,100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$4,400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$4,700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C3E5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$5,000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2" name="Google Shape;242;p23"/>
          <p:cNvSpPr txBox="1"/>
          <p:nvPr/>
        </p:nvSpPr>
        <p:spPr>
          <a:xfrm>
            <a:off x="571500" y="3048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Data Tables: Example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/>
          <p:nvPr/>
        </p:nvSpPr>
        <p:spPr>
          <a:xfrm>
            <a:off x="1571625" y="1552575"/>
            <a:ext cx="9048750" cy="1371600"/>
          </a:xfrm>
          <a:prstGeom prst="roundRect">
            <a:avLst>
              <a:gd name="adj" fmla="val 5555"/>
            </a:avLst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1952625" y="1743075"/>
            <a:ext cx="8382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Use Scenario Manager...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When you want to compare several </a:t>
            </a:r>
            <a:r>
              <a:rPr lang="en-US" sz="1650" b="0" i="1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complete plans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(e.g., Best Case vs. Worst Case) that involve changing multiple inputs at once.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571625" y="1552575"/>
            <a:ext cx="5715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1571625" y="3114675"/>
            <a:ext cx="9048750" cy="1371600"/>
          </a:xfrm>
          <a:prstGeom prst="roundRect">
            <a:avLst>
              <a:gd name="adj" fmla="val 5555"/>
            </a:avLst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952625" y="3305175"/>
            <a:ext cx="8382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Use Goal Seek...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When you know the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final answer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you need (like "$4,200 profit") and want to find the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single input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required to get it.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1571625" y="3114675"/>
            <a:ext cx="5715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1571625" y="4676775"/>
            <a:ext cx="9048750" cy="1371600"/>
          </a:xfrm>
          <a:prstGeom prst="roundRect">
            <a:avLst>
              <a:gd name="adj" fmla="val 5555"/>
            </a:avLst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1952625" y="4867275"/>
            <a:ext cx="8382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C3E50"/>
                </a:solidFill>
                <a:latin typeface="Nunito"/>
                <a:ea typeface="Nunito"/>
                <a:cs typeface="Nunito"/>
                <a:sym typeface="Nunito"/>
              </a:rPr>
              <a:t>Use Data Tables...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When you want to quickly see a </a:t>
            </a:r>
            <a:r>
              <a:rPr lang="en-US" sz="1650" b="1" i="0" u="none" strike="noStrike" cap="none">
                <a:solidFill>
                  <a:srgbClr val="F39C12"/>
                </a:solidFill>
                <a:latin typeface="Nunito"/>
                <a:ea typeface="Nunito"/>
                <a:cs typeface="Nunito"/>
                <a:sym typeface="Nunito"/>
              </a:rPr>
              <a:t>range of results</a:t>
            </a:r>
            <a:r>
              <a:rPr lang="en-US" sz="1650" b="0" i="0" u="none" strike="noStrike" cap="none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 by changing just one or two variables (like testing 10 different prices).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1571625" y="4676775"/>
            <a:ext cx="5715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0645" y="1724025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1490" y="328612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2335" y="484822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71500" y="3810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Summary: When to Use Which Tool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295275" y="2181225"/>
            <a:ext cx="11601600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dirty="0">
                <a:solidFill>
                  <a:srgbClr val="34495E"/>
                </a:solidFill>
                <a:latin typeface="Poppins"/>
                <a:ea typeface="Poppins"/>
                <a:cs typeface="Poppins"/>
                <a:sym typeface="Poppins"/>
              </a:rPr>
              <a:t>Thank You </a:t>
            </a:r>
            <a:r>
              <a:rPr lang="en-US" sz="6500" b="1" dirty="0" smtClean="0">
                <a:solidFill>
                  <a:srgbClr val="34495E"/>
                </a:solidFill>
                <a:latin typeface="Poppins"/>
                <a:ea typeface="Poppins"/>
                <a:cs typeface="Poppins"/>
                <a:sym typeface="Poppins"/>
              </a:rPr>
              <a:t>!!</a:t>
            </a:r>
            <a:endParaRPr sz="6500" b="1" dirty="0">
              <a:solidFill>
                <a:srgbClr val="34495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366712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44196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235</TotalTime>
  <Words>1212</Words>
  <Application>Microsoft Office PowerPoint</Application>
  <PresentationFormat>Widescreen</PresentationFormat>
  <Paragraphs>142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Calibri</vt:lpstr>
      <vt:lpstr>Calibri Light</vt:lpstr>
      <vt:lpstr>Century Gothic</vt:lpstr>
      <vt:lpstr>Nunito</vt:lpstr>
      <vt:lpstr>Poppins</vt:lpstr>
      <vt:lpstr>Times New Roman</vt:lpstr>
      <vt:lpstr>Wingdings</vt:lpstr>
      <vt:lpstr>Wingdings 3</vt:lpstr>
      <vt:lpstr>Ion</vt:lpstr>
      <vt:lpstr>Office Theme</vt:lpstr>
      <vt:lpstr>          Introduction  to  PIVOT TABLE  AND  PIVOIT CHART</vt:lpstr>
      <vt:lpstr>What is pivot table ?</vt:lpstr>
      <vt:lpstr>Why use a pivot table ?</vt:lpstr>
      <vt:lpstr>Creating a pivot table</vt:lpstr>
      <vt:lpstr>Customizing a pivot table</vt:lpstr>
      <vt:lpstr>Customizing a pivot Table</vt:lpstr>
      <vt:lpstr>Sum calculatuion</vt:lpstr>
      <vt:lpstr>Min calculation</vt:lpstr>
      <vt:lpstr>Max calculation</vt:lpstr>
      <vt:lpstr>What is pivot chart?</vt:lpstr>
      <vt:lpstr>Creating pivot chart</vt:lpstr>
      <vt:lpstr>Creating pivot chart</vt:lpstr>
      <vt:lpstr>Creating a chart</vt:lpstr>
      <vt:lpstr>Customizing a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Introduction  to  PIVOT TABLE  AND  PIVOIT CHART</dc:title>
  <dc:creator>shivam mourya</dc:creator>
  <cp:lastModifiedBy>Admin</cp:lastModifiedBy>
  <cp:revision>6</cp:revision>
  <dcterms:created xsi:type="dcterms:W3CDTF">2025-11-12T05:26:27Z</dcterms:created>
  <dcterms:modified xsi:type="dcterms:W3CDTF">2025-12-10T03:41:26Z</dcterms:modified>
</cp:coreProperties>
</file>