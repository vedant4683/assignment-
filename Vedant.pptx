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9" r:id="rId9"/>
    <p:sldId id="270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14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51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51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52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70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46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82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60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3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41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96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91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6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92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F170A-9D38-42A4-A87C-A1C192A6A8A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74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4D38-771D-9700-DB89-CB9C27726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9124" y="140051"/>
            <a:ext cx="8637073" cy="2541431"/>
          </a:xfrm>
          <a:noFill/>
          <a:scene3d>
            <a:camera prst="orthographicFront"/>
            <a:lightRig rig="threePt" dir="t"/>
          </a:scene3d>
          <a:sp3d>
            <a:bevelB w="152400" h="50800" prst="softRound"/>
          </a:sp3d>
        </p:spPr>
        <p:txBody>
          <a:bodyPr>
            <a:normAutofit/>
          </a:bodyPr>
          <a:lstStyle/>
          <a:p>
            <a:r>
              <a:rPr lang="en-IN" sz="4000" dirty="0"/>
              <a:t>          Introduction  to</a:t>
            </a:r>
            <a:br>
              <a:rPr lang="en-IN" sz="4000" dirty="0"/>
            </a:br>
            <a:r>
              <a:rPr lang="en-IN" sz="4000" dirty="0"/>
              <a:t> PIVOT TABLE  AND  PIVOIT CHART</a:t>
            </a:r>
          </a:p>
        </p:txBody>
      </p:sp>
    </p:spTree>
    <p:extLst>
      <p:ext uri="{BB962C8B-B14F-4D97-AF65-F5344CB8AC3E}">
        <p14:creationId xmlns:p14="http://schemas.microsoft.com/office/powerpoint/2010/main" val="413891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32F5-DE7E-67A9-9A89-2FCF039C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pivot table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C3012-776D-3056-71BC-ADDCC9A4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Pivot Table is data summarization  tool in excel used to :</a:t>
            </a:r>
          </a:p>
          <a:p>
            <a:r>
              <a:rPr lang="en-IN" dirty="0"/>
              <a:t>   Summarize large datasets.</a:t>
            </a:r>
          </a:p>
          <a:p>
            <a:r>
              <a:rPr lang="en-IN" dirty="0"/>
              <a:t>    </a:t>
            </a:r>
            <a:r>
              <a:rPr lang="en-IN" dirty="0" err="1"/>
              <a:t>Analyze</a:t>
            </a:r>
            <a:r>
              <a:rPr lang="en-IN" dirty="0"/>
              <a:t> patterns and trends.</a:t>
            </a:r>
          </a:p>
          <a:p>
            <a:r>
              <a:rPr lang="en-IN" dirty="0"/>
              <a:t>    Rearrange (pivot) data dynamically.</a:t>
            </a:r>
          </a:p>
        </p:txBody>
      </p:sp>
    </p:spTree>
    <p:extLst>
      <p:ext uri="{BB962C8B-B14F-4D97-AF65-F5344CB8AC3E}">
        <p14:creationId xmlns:p14="http://schemas.microsoft.com/office/powerpoint/2010/main" val="251705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3341-F01C-F916-8EBF-36C064B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a pivot table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2A23F-9DCC-AE5B-E0BC-29E32D7E2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We use a Pivot Table because it helps to :</a:t>
            </a:r>
          </a:p>
          <a:p>
            <a:r>
              <a:rPr lang="en-IN" dirty="0"/>
              <a:t> Quick data summarization.</a:t>
            </a:r>
          </a:p>
          <a:p>
            <a:r>
              <a:rPr lang="en-IN" dirty="0"/>
              <a:t> Easy comparison of data.</a:t>
            </a:r>
          </a:p>
          <a:p>
            <a:r>
              <a:rPr lang="en-IN" dirty="0"/>
              <a:t> Saves time no formulas needed.</a:t>
            </a:r>
          </a:p>
          <a:p>
            <a:r>
              <a:rPr lang="en-IN" dirty="0"/>
              <a:t> Interactive and flexible.</a:t>
            </a:r>
          </a:p>
          <a:p>
            <a:r>
              <a:rPr lang="en-IN" dirty="0"/>
              <a:t> Great for reports and </a:t>
            </a:r>
            <a:r>
              <a:rPr lang="en-IN" dirty="0" err="1"/>
              <a:t>dashbords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491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204C-07A9-2ABD-777A-20C70065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9D5E-C37D-5AF9-CE61-7FCAD0A78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88" y="1934743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Steps to create a Pivot Table in excel:</a:t>
            </a:r>
          </a:p>
          <a:p>
            <a:r>
              <a:rPr lang="en-IN" dirty="0"/>
              <a:t>Select your dataset .</a:t>
            </a:r>
          </a:p>
          <a:p>
            <a:r>
              <a:rPr lang="en-IN" dirty="0"/>
              <a:t>Go to Insert</a:t>
            </a:r>
            <a:r>
              <a:rPr lang="en-IN" dirty="0">
                <a:sym typeface="Wingdings" panose="05000000000000000000" pitchFamily="2" charset="2"/>
              </a:rPr>
              <a:t> Pivot Table</a:t>
            </a:r>
          </a:p>
          <a:p>
            <a:r>
              <a:rPr lang="en-IN" dirty="0">
                <a:sym typeface="Wingdings" panose="05000000000000000000" pitchFamily="2" charset="2"/>
              </a:rPr>
              <a:t>Choose a data range</a:t>
            </a:r>
          </a:p>
          <a:p>
            <a:r>
              <a:rPr lang="en-IN" dirty="0">
                <a:sym typeface="Wingdings" panose="05000000000000000000" pitchFamily="2" charset="2"/>
              </a:rPr>
              <a:t>Drag fields to Rows ,Columns ,Values , and ,Filters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A3AC98-9471-61FE-4DEE-AFA959AE1CFE}"/>
                  </a:ext>
                </a:extLst>
              </p14:cNvPr>
              <p14:cNvContentPartPr/>
              <p14:nvPr/>
            </p14:nvContentPartPr>
            <p14:xfrm>
              <a:off x="7470933" y="353438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A3AC98-9471-61FE-4DEE-AFA959AE1C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2293" y="34443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2641245-037E-3765-804A-1086E1BC5768}"/>
              </a:ext>
            </a:extLst>
          </p:cNvPr>
          <p:cNvGrpSpPr/>
          <p:nvPr/>
        </p:nvGrpSpPr>
        <p:grpSpPr>
          <a:xfrm>
            <a:off x="4613253" y="3158918"/>
            <a:ext cx="360" cy="360"/>
            <a:chOff x="4613253" y="315891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804E0B-A946-F09B-8591-9B05E9A99E23}"/>
                    </a:ext>
                  </a:extLst>
                </p14:cNvPr>
                <p14:cNvContentPartPr/>
                <p14:nvPr/>
              </p14:nvContentPartPr>
              <p14:xfrm>
                <a:off x="4613253" y="3158918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804E0B-A946-F09B-8591-9B05E9A99E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04613" y="314991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67DB49-C1D4-A823-01DC-BE7DB673D8D0}"/>
                    </a:ext>
                  </a:extLst>
                </p14:cNvPr>
                <p14:cNvContentPartPr/>
                <p14:nvPr/>
              </p14:nvContentPartPr>
              <p14:xfrm>
                <a:off x="4613253" y="3158918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67DB49-C1D4-A823-01DC-BE7DB673D8D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04613" y="314991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E868370-7A5D-0F1D-DD57-0FAD40302C1B}"/>
                  </a:ext>
                </a:extLst>
              </p14:cNvPr>
              <p14:cNvContentPartPr/>
              <p14:nvPr/>
            </p14:nvContentPartPr>
            <p14:xfrm>
              <a:off x="3470613" y="2670398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E868370-7A5D-0F1D-DD57-0FAD40302C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1613" y="266139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E3100A54-0BF5-FE5F-8C4D-AA4764F56E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094" y="1853754"/>
            <a:ext cx="5063809" cy="755312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EF287074-48A4-459A-45EB-37269675A320}"/>
              </a:ext>
            </a:extLst>
          </p:cNvPr>
          <p:cNvSpPr/>
          <p:nvPr/>
        </p:nvSpPr>
        <p:spPr>
          <a:xfrm>
            <a:off x="6332220" y="1579434"/>
            <a:ext cx="144780" cy="27432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2E30B60-1BC5-2EEE-ED20-5A879F99473A}"/>
              </a:ext>
            </a:extLst>
          </p:cNvPr>
          <p:cNvSpPr/>
          <p:nvPr/>
        </p:nvSpPr>
        <p:spPr>
          <a:xfrm rot="10800000">
            <a:off x="6031230" y="2251134"/>
            <a:ext cx="129540" cy="304591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5B83822-D9D8-524A-44E2-F5D00C1B29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770" y="2628669"/>
            <a:ext cx="4893364" cy="2377133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25A7D99D-8506-E86F-A192-DB7CF7896CFC}"/>
              </a:ext>
            </a:extLst>
          </p:cNvPr>
          <p:cNvSpPr/>
          <p:nvPr/>
        </p:nvSpPr>
        <p:spPr>
          <a:xfrm>
            <a:off x="8854440" y="3158918"/>
            <a:ext cx="137160" cy="795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01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0FA6-D3B3-3E13-25F3-831EF982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Customizing a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0FCA7-7036-B1C6-4036-C5E3A525F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015732"/>
            <a:ext cx="9603275" cy="3450613"/>
          </a:xfrm>
        </p:spPr>
        <p:txBody>
          <a:bodyPr/>
          <a:lstStyle/>
          <a:p>
            <a:r>
              <a:rPr lang="en-IN" dirty="0"/>
              <a:t>Pivot Table field list: this dialogue box appears </a:t>
            </a:r>
          </a:p>
          <a:p>
            <a:pPr marL="0" indent="0">
              <a:buNone/>
            </a:pPr>
            <a:r>
              <a:rPr lang="en-IN" dirty="0"/>
              <a:t>    after a pivot table has been created.</a:t>
            </a:r>
          </a:p>
          <a:p>
            <a:r>
              <a:rPr lang="en-IN" dirty="0"/>
              <a:t>Any time this is open, you are able</a:t>
            </a:r>
          </a:p>
          <a:p>
            <a:pPr marL="0" indent="0">
              <a:buNone/>
            </a:pPr>
            <a:r>
              <a:rPr lang="en-IN" dirty="0"/>
              <a:t>   to edit a Pivot Table.</a:t>
            </a:r>
          </a:p>
          <a:p>
            <a:r>
              <a:rPr lang="en-IN" dirty="0"/>
              <a:t>It is used to add and remove items from the </a:t>
            </a:r>
          </a:p>
          <a:p>
            <a:pPr marL="0" indent="0">
              <a:buNone/>
            </a:pPr>
            <a:r>
              <a:rPr lang="en-IN" dirty="0"/>
              <a:t>   Pivot Table and contains </a:t>
            </a:r>
            <a:r>
              <a:rPr lang="en-IN" dirty="0" err="1"/>
              <a:t>afields</a:t>
            </a:r>
            <a:r>
              <a:rPr lang="en-IN" dirty="0"/>
              <a:t> for each of the </a:t>
            </a:r>
          </a:p>
          <a:p>
            <a:pPr marL="0" indent="0">
              <a:buNone/>
            </a:pPr>
            <a:r>
              <a:rPr lang="en-IN" dirty="0"/>
              <a:t>   columns in your list.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107E0-7E77-775B-5CA5-16325F091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050" y="2015732"/>
            <a:ext cx="2793295" cy="396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4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FF96-D2BC-5AF9-1E99-835A0734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759" y="111099"/>
            <a:ext cx="9603275" cy="1049235"/>
          </a:xfrm>
        </p:spPr>
        <p:txBody>
          <a:bodyPr/>
          <a:lstStyle/>
          <a:p>
            <a:r>
              <a:rPr lang="en-IN" dirty="0"/>
              <a:t>Customizing a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15843-1DF1-24AB-A801-BE9D572A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Layout: edits the layout and display of the Pivot Table</a:t>
            </a:r>
          </a:p>
          <a:p>
            <a:r>
              <a:rPr lang="en-IN" dirty="0"/>
              <a:t>Pivot Table Style: provide a list of present style to</a:t>
            </a:r>
          </a:p>
          <a:p>
            <a:pPr marL="0" indent="0">
              <a:buNone/>
            </a:pPr>
            <a:r>
              <a:rPr lang="en-IN" dirty="0"/>
              <a:t>   choose from.</a:t>
            </a:r>
          </a:p>
          <a:p>
            <a:r>
              <a:rPr lang="en-IN" dirty="0"/>
              <a:t>Pivot Table Style option: adds </a:t>
            </a:r>
            <a:r>
              <a:rPr lang="en-IN" dirty="0" err="1"/>
              <a:t>colunma</a:t>
            </a:r>
            <a:r>
              <a:rPr lang="en-IN" dirty="0"/>
              <a:t>/rows headers</a:t>
            </a:r>
          </a:p>
          <a:p>
            <a:pPr marL="0" indent="0">
              <a:buNone/>
            </a:pPr>
            <a:r>
              <a:rPr lang="en-IN" dirty="0"/>
              <a:t>    And bands </a:t>
            </a:r>
            <a:r>
              <a:rPr lang="en-IN" dirty="0" err="1"/>
              <a:t>colunma</a:t>
            </a:r>
            <a:r>
              <a:rPr lang="en-IN" dirty="0"/>
              <a:t>/rows.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06359-D2F5-D6C9-3D3E-B6FA0DB40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488" y="827297"/>
            <a:ext cx="7516439" cy="9710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174F0F-0A27-9D27-96CC-84E16042F1EA}"/>
              </a:ext>
            </a:extLst>
          </p:cNvPr>
          <p:cNvCxnSpPr>
            <a:cxnSpLocks/>
          </p:cNvCxnSpPr>
          <p:nvPr/>
        </p:nvCxnSpPr>
        <p:spPr>
          <a:xfrm>
            <a:off x="1451579" y="1028700"/>
            <a:ext cx="760025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1E2DDA-DAA6-00D4-8C99-CABEA3C066E0}"/>
              </a:ext>
            </a:extLst>
          </p:cNvPr>
          <p:cNvCxnSpPr/>
          <p:nvPr/>
        </p:nvCxnSpPr>
        <p:spPr>
          <a:xfrm>
            <a:off x="1451579" y="1028700"/>
            <a:ext cx="0" cy="769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0D249A-1B03-E963-A55B-4D5B247153C0}"/>
              </a:ext>
            </a:extLst>
          </p:cNvPr>
          <p:cNvCxnSpPr>
            <a:cxnSpLocks/>
          </p:cNvCxnSpPr>
          <p:nvPr/>
        </p:nvCxnSpPr>
        <p:spPr>
          <a:xfrm flipV="1">
            <a:off x="1451579" y="1780317"/>
            <a:ext cx="7558348" cy="180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779793-9F38-D38D-FD88-C6397F909348}"/>
              </a:ext>
            </a:extLst>
          </p:cNvPr>
          <p:cNvCxnSpPr>
            <a:cxnSpLocks/>
          </p:cNvCxnSpPr>
          <p:nvPr/>
        </p:nvCxnSpPr>
        <p:spPr>
          <a:xfrm flipH="1">
            <a:off x="9009927" y="1028700"/>
            <a:ext cx="41911" cy="751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29ACB8-B758-7369-155B-95F520495AB6}"/>
              </a:ext>
            </a:extLst>
          </p:cNvPr>
          <p:cNvCxnSpPr/>
          <p:nvPr/>
        </p:nvCxnSpPr>
        <p:spPr>
          <a:xfrm>
            <a:off x="3185160" y="1028700"/>
            <a:ext cx="0" cy="7606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66D6D7-F2BE-E15A-2BD6-1683FA771865}"/>
              </a:ext>
            </a:extLst>
          </p:cNvPr>
          <p:cNvCxnSpPr/>
          <p:nvPr/>
        </p:nvCxnSpPr>
        <p:spPr>
          <a:xfrm>
            <a:off x="5067300" y="1028700"/>
            <a:ext cx="0" cy="751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D3439E9-46BE-1FA3-68B9-552CC5D68804}"/>
              </a:ext>
            </a:extLst>
          </p:cNvPr>
          <p:cNvSpPr/>
          <p:nvPr/>
        </p:nvSpPr>
        <p:spPr>
          <a:xfrm>
            <a:off x="6972300" y="431229"/>
            <a:ext cx="198120" cy="357311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0871E7-0849-A550-4AD5-F5B807F12738}"/>
              </a:ext>
            </a:extLst>
          </p:cNvPr>
          <p:cNvCxnSpPr/>
          <p:nvPr/>
        </p:nvCxnSpPr>
        <p:spPr>
          <a:xfrm flipV="1">
            <a:off x="2362200" y="1780317"/>
            <a:ext cx="0" cy="235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EA3EEB6-0F96-7639-3861-532F1FC275D3}"/>
              </a:ext>
            </a:extLst>
          </p:cNvPr>
          <p:cNvCxnSpPr/>
          <p:nvPr/>
        </p:nvCxnSpPr>
        <p:spPr>
          <a:xfrm flipV="1">
            <a:off x="4084320" y="1798320"/>
            <a:ext cx="0" cy="358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3090A28-0217-ADDB-36A3-F90FF1D85C4F}"/>
              </a:ext>
            </a:extLst>
          </p:cNvPr>
          <p:cNvCxnSpPr/>
          <p:nvPr/>
        </p:nvCxnSpPr>
        <p:spPr>
          <a:xfrm flipV="1">
            <a:off x="7170420" y="1780317"/>
            <a:ext cx="0" cy="2354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61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6DAE3-CAA6-B337-453E-9F3067EB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</a:t>
            </a:r>
            <a:r>
              <a:rPr lang="en-IN" dirty="0" err="1"/>
              <a:t>calculatuion</a:t>
            </a:r>
            <a:endParaRPr lang="en-IN" dirty="0"/>
          </a:p>
        </p:txBody>
      </p:sp>
      <p:pic>
        <p:nvPicPr>
          <p:cNvPr id="51" name="Content Placeholder 50">
            <a:extLst>
              <a:ext uri="{FF2B5EF4-FFF2-40B4-BE49-F238E27FC236}">
                <a16:creationId xmlns:a16="http://schemas.microsoft.com/office/drawing/2014/main" id="{92C32A0A-93EB-42AB-075D-1715B6814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25" y="1965324"/>
            <a:ext cx="8903582" cy="3947795"/>
          </a:xfrm>
        </p:spPr>
      </p:pic>
    </p:spTree>
    <p:extLst>
      <p:ext uri="{BB962C8B-B14F-4D97-AF65-F5344CB8AC3E}">
        <p14:creationId xmlns:p14="http://schemas.microsoft.com/office/powerpoint/2010/main" val="275246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08D0-675D-03A9-BDC7-5CCCAD25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7140"/>
            <a:ext cx="9603275" cy="1049235"/>
          </a:xfrm>
        </p:spPr>
        <p:txBody>
          <a:bodyPr/>
          <a:lstStyle/>
          <a:p>
            <a:r>
              <a:rPr lang="en-IN" dirty="0"/>
              <a:t>Min calculation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5979D-E920-AEFC-E030-68C7F810B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600" y="2199737"/>
            <a:ext cx="5138531" cy="2890423"/>
          </a:xfrm>
          <a:prstGeom prst="rect">
            <a:avLst/>
          </a:prstGeom>
        </p:spPr>
      </p:pic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85222C3D-9020-AFAD-9144-EE2B3BAF2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0" y="2199736"/>
            <a:ext cx="5138529" cy="2890423"/>
          </a:xfrm>
        </p:spPr>
      </p:pic>
    </p:spTree>
    <p:extLst>
      <p:ext uri="{BB962C8B-B14F-4D97-AF65-F5344CB8AC3E}">
        <p14:creationId xmlns:p14="http://schemas.microsoft.com/office/powerpoint/2010/main" val="342728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FBF1-2826-8DC9-C116-24A8E263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 calculation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151F6-1CE6-D4A1-1925-1F798BA05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411" y="1935101"/>
            <a:ext cx="7641178" cy="4298163"/>
          </a:xfrm>
        </p:spPr>
      </p:pic>
    </p:spTree>
    <p:extLst>
      <p:ext uri="{BB962C8B-B14F-4D97-AF65-F5344CB8AC3E}">
        <p14:creationId xmlns:p14="http://schemas.microsoft.com/office/powerpoint/2010/main" val="178056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B975-6139-5FAB-1D31-97BF9F81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pivot chart?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90D2-300B-421B-7FAB-59B799930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 </a:t>
            </a:r>
            <a:r>
              <a:rPr lang="en-US" b="1" dirty="0"/>
              <a:t>PivotChart</a:t>
            </a:r>
            <a:r>
              <a:rPr lang="en-US" dirty="0"/>
              <a:t> is a </a:t>
            </a:r>
            <a:r>
              <a:rPr lang="en-US" b="1" dirty="0"/>
              <a:t>visual representation of a PivotTable</a:t>
            </a:r>
            <a:r>
              <a:rPr lang="en-US" dirty="0"/>
              <a:t> in Excel (or similar tools like Power BI, Google Sheets, or Pandas).</a:t>
            </a:r>
          </a:p>
          <a:p>
            <a:r>
              <a:rPr lang="en-US" dirty="0"/>
              <a:t>It’s a </a:t>
            </a:r>
            <a:r>
              <a:rPr lang="en-US" b="1" dirty="0"/>
              <a:t>dynamic chart</a:t>
            </a:r>
            <a:r>
              <a:rPr lang="en-US" dirty="0"/>
              <a:t> that automatically updates when you </a:t>
            </a:r>
            <a:r>
              <a:rPr lang="en-US" b="1" dirty="0"/>
              <a:t>filter, group, or rearrange</a:t>
            </a:r>
            <a:r>
              <a:rPr lang="en-US" dirty="0"/>
              <a:t> data in the PivotTable — helping you quickly visualize </a:t>
            </a:r>
            <a:r>
              <a:rPr lang="en-US" b="1" dirty="0"/>
              <a:t>trends, comparisons, and summaries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0354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0F70-D52E-2B13-F4BD-B0F32D99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796899"/>
            <a:ext cx="9603275" cy="1049235"/>
          </a:xfrm>
        </p:spPr>
        <p:txBody>
          <a:bodyPr/>
          <a:lstStyle/>
          <a:p>
            <a:r>
              <a:rPr lang="en-IN" dirty="0"/>
              <a:t>Creating pivot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01B3-0014-01A9-5013-F88558A9B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900" b="1" dirty="0"/>
              <a:t>Steps to </a:t>
            </a:r>
            <a:r>
              <a:rPr lang="en-IN" sz="2600" b="1" dirty="0"/>
              <a:t>Create a Pivot Chart :</a:t>
            </a:r>
          </a:p>
          <a:p>
            <a:r>
              <a:rPr lang="en-IN" b="1" dirty="0"/>
              <a:t>Select your dataset</a:t>
            </a:r>
            <a:r>
              <a:rPr lang="en-IN" dirty="0"/>
              <a:t> → (A1:I41)</a:t>
            </a:r>
          </a:p>
          <a:p>
            <a:r>
              <a:rPr lang="en-IN" dirty="0"/>
              <a:t>Go to </a:t>
            </a:r>
            <a:r>
              <a:rPr lang="en-IN" b="1" dirty="0"/>
              <a:t>Insert → PivotTable</a:t>
            </a:r>
            <a:r>
              <a:rPr lang="en-IN" dirty="0"/>
              <a:t> → choose </a:t>
            </a:r>
            <a:r>
              <a:rPr lang="en-IN" i="1" dirty="0"/>
              <a:t>New Worksheet</a:t>
            </a:r>
            <a:r>
              <a:rPr lang="en-IN" dirty="0"/>
              <a:t> → </a:t>
            </a:r>
            <a:r>
              <a:rPr lang="en-IN" b="1" dirty="0"/>
              <a:t>OK</a:t>
            </a:r>
            <a:endParaRPr lang="en-IN" dirty="0"/>
          </a:p>
          <a:p>
            <a:r>
              <a:rPr lang="en-IN" dirty="0"/>
              <a:t>In PivotTable Fields:</a:t>
            </a:r>
          </a:p>
          <a:p>
            <a:pPr lvl="1"/>
            <a:r>
              <a:rPr lang="en-IN" dirty="0"/>
              <a:t>Rows → </a:t>
            </a:r>
            <a:r>
              <a:rPr lang="en-IN" b="1" dirty="0"/>
              <a:t>Region</a:t>
            </a:r>
            <a:endParaRPr lang="en-IN" dirty="0"/>
          </a:p>
          <a:p>
            <a:pPr lvl="1"/>
            <a:r>
              <a:rPr lang="en-IN" dirty="0"/>
              <a:t>Columns → </a:t>
            </a:r>
            <a:r>
              <a:rPr lang="en-IN" b="1" dirty="0"/>
              <a:t>Category</a:t>
            </a:r>
            <a:endParaRPr lang="en-IN" dirty="0"/>
          </a:p>
          <a:p>
            <a:pPr lvl="1"/>
            <a:r>
              <a:rPr lang="en-IN" dirty="0"/>
              <a:t>Values → </a:t>
            </a:r>
            <a:r>
              <a:rPr lang="en-IN" b="1" dirty="0"/>
              <a:t>Sum of Total Sales</a:t>
            </a:r>
            <a:endParaRPr lang="en-IN" dirty="0"/>
          </a:p>
          <a:p>
            <a:r>
              <a:rPr lang="en-IN" dirty="0"/>
              <a:t>Click inside PivotTable → </a:t>
            </a:r>
            <a:r>
              <a:rPr lang="en-IN" b="1" dirty="0"/>
              <a:t>Insert → PivotChart</a:t>
            </a:r>
            <a:endParaRPr lang="en-IN" dirty="0"/>
          </a:p>
          <a:p>
            <a:r>
              <a:rPr lang="en-IN" dirty="0"/>
              <a:t>Choose </a:t>
            </a:r>
            <a:r>
              <a:rPr lang="en-IN" b="1" dirty="0"/>
              <a:t>Column Chart</a:t>
            </a:r>
            <a:r>
              <a:rPr lang="en-IN" dirty="0"/>
              <a:t> → </a:t>
            </a:r>
            <a:r>
              <a:rPr lang="en-IN" b="1" dirty="0"/>
              <a:t>OK</a:t>
            </a:r>
            <a:endParaRPr lang="en-IN" dirty="0"/>
          </a:p>
          <a:p>
            <a:r>
              <a:rPr lang="en-IN" dirty="0"/>
              <a:t>Add chart title → </a:t>
            </a:r>
            <a:r>
              <a:rPr lang="en-IN" i="1" dirty="0"/>
              <a:t>“Regional Sales by Category”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1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8885-30CD-792E-0BC3-5F85F5F5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pivot chart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587716F-3C7B-A6D8-E98D-36F1651B6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479" y="1853754"/>
            <a:ext cx="9604375" cy="88938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361A74-5DC4-DF08-3802-946E42C7A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478" y="2659322"/>
            <a:ext cx="9604375" cy="3823335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3115C7E0-E7E3-1A28-E76F-BA64BEEE4792}"/>
              </a:ext>
            </a:extLst>
          </p:cNvPr>
          <p:cNvSpPr/>
          <p:nvPr/>
        </p:nvSpPr>
        <p:spPr>
          <a:xfrm>
            <a:off x="2133600" y="1548954"/>
            <a:ext cx="129540" cy="30480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71D75C8-7BF1-3346-FF51-2433CDA3EC82}"/>
              </a:ext>
            </a:extLst>
          </p:cNvPr>
          <p:cNvSpPr/>
          <p:nvPr/>
        </p:nvSpPr>
        <p:spPr>
          <a:xfrm rot="10800000">
            <a:off x="6306005" y="2427385"/>
            <a:ext cx="201475" cy="3157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52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D261-2519-D0B2-B015-3317468F0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268A1F-6DA9-F15D-BD0C-E20DA1EE4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331" y="1998534"/>
            <a:ext cx="5689662" cy="3449638"/>
          </a:xfrm>
        </p:spPr>
      </p:pic>
    </p:spTree>
    <p:extLst>
      <p:ext uri="{BB962C8B-B14F-4D97-AF65-F5344CB8AC3E}">
        <p14:creationId xmlns:p14="http://schemas.microsoft.com/office/powerpoint/2010/main" val="2873695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8CE2-DED0-1BC5-5534-C7E1435B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Customizing a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8294-E855-5A99-D44A-70124C98D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Once a chart has been </a:t>
            </a:r>
            <a:r>
              <a:rPr lang="en-IN" dirty="0" err="1"/>
              <a:t>created,a</a:t>
            </a:r>
            <a:r>
              <a:rPr lang="en-IN" dirty="0"/>
              <a:t> chart tools group </a:t>
            </a:r>
            <a:r>
              <a:rPr lang="en-IN" dirty="0" err="1"/>
              <a:t>asppers</a:t>
            </a:r>
            <a:r>
              <a:rPr lang="en-IN" dirty="0"/>
              <a:t> on the user interface </a:t>
            </a:r>
            <a:r>
              <a:rPr lang="en-IN" dirty="0" err="1"/>
              <a:t>ribbort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Note: A chart must selected to use Chart Tools.</a:t>
            </a:r>
          </a:p>
          <a:p>
            <a:pPr marL="0" indent="0">
              <a:buNone/>
            </a:pPr>
            <a:r>
              <a:rPr lang="en-IN" dirty="0"/>
              <a:t>This group has three tabs that helps when customizing a chart: </a:t>
            </a:r>
            <a:r>
              <a:rPr lang="en-IN" dirty="0" err="1"/>
              <a:t>Design,Layout</a:t>
            </a:r>
            <a:r>
              <a:rPr lang="en-IN" dirty="0"/>
              <a:t> and </a:t>
            </a:r>
            <a:r>
              <a:rPr lang="en-IN" dirty="0" err="1"/>
              <a:t>Fromat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4C5CA-E8CE-CD6A-0871-2CFF30F80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46" y="3748615"/>
            <a:ext cx="9921240" cy="1033877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E041B51-5C09-42A9-BCBE-4F2B14CE790B}"/>
              </a:ext>
            </a:extLst>
          </p:cNvPr>
          <p:cNvSpPr/>
          <p:nvPr/>
        </p:nvSpPr>
        <p:spPr>
          <a:xfrm>
            <a:off x="7274560" y="3429000"/>
            <a:ext cx="193040" cy="31961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259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232</TotalTime>
  <Words>435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Wingdings</vt:lpstr>
      <vt:lpstr>Gallery</vt:lpstr>
      <vt:lpstr>          Introduction  to  PIVOT TABLE  AND  PIVOIT CHART</vt:lpstr>
      <vt:lpstr>What is pivot table ?</vt:lpstr>
      <vt:lpstr>Why use a pivot table ?</vt:lpstr>
      <vt:lpstr>Creating a pivot table</vt:lpstr>
      <vt:lpstr>Customizing a pivot table</vt:lpstr>
      <vt:lpstr>Customizing a pivot Table</vt:lpstr>
      <vt:lpstr>Sum calculatuion</vt:lpstr>
      <vt:lpstr>Min calculation</vt:lpstr>
      <vt:lpstr>Max calculation</vt:lpstr>
      <vt:lpstr>What is pivot chart?</vt:lpstr>
      <vt:lpstr>Creating pivot chart</vt:lpstr>
      <vt:lpstr>Creating pivot chart</vt:lpstr>
      <vt:lpstr>Creating a chart</vt:lpstr>
      <vt:lpstr>Customizing a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mourya</dc:creator>
  <cp:lastModifiedBy>shivam mourya</cp:lastModifiedBy>
  <cp:revision>1</cp:revision>
  <dcterms:created xsi:type="dcterms:W3CDTF">2025-11-12T05:26:27Z</dcterms:created>
  <dcterms:modified xsi:type="dcterms:W3CDTF">2025-11-12T09:19:19Z</dcterms:modified>
</cp:coreProperties>
</file>